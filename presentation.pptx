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Language-Aware Hard Negative Mining
for Improved Vision-Language
Representation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749039"/>
            <a:ext cx="5788152" cy="4572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Calibri"/>
              </a:rPr>
              <a:t>Prafull Kumar Prajapati  ·  Pooja Ramesh Korake  ·  Faizul Anis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75B12"/>
                </a:solidFill>
                <a:latin typeface="Calibri"/>
              </a:rPr>
              <a:t>The University of Texas at Dallas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  <a:latin typeface="Calibri"/>
              </a:rPr>
              <a:t>CS 6384 Computer Vision  |  Spring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Why does hard negative mining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CS 6384 Computer Vision  |  UTD  |  Spring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B12"/>
                </a:solidFill>
                <a:latin typeface="Calibri"/>
              </a:rPr>
              <a:t>Problem with standard contrastive learning: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2E2E2E"/>
                </a:solidFill>
                <a:latin typeface="Calibri"/>
              </a:rPr>
              <a:t>▸  CLIP-style training pushes matched (image, text) pairs together and unmatched pairs apart.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2E2E2E"/>
                </a:solidFill>
                <a:latin typeface="Calibri"/>
              </a:rPr>
              <a:t>▸  Easy negatives (very different images/captions) provide little gradient signal.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2E2E2E"/>
                </a:solidFill>
                <a:latin typeface="Calibri"/>
              </a:rPr>
              <a:t>▸  Hard negatives — pairs that are similar but not matched — are crucial for learning fine-grained distinctions.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11430000" cy="36576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B12"/>
                </a:solidFill>
                <a:latin typeface="Calibri"/>
              </a:rPr>
              <a:t>The LLaVE insight (our starting point):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2E2E2E"/>
                </a:solidFill>
                <a:latin typeface="Calibri"/>
              </a:rPr>
              <a:t>▸  Dynamically reweight negatives by their embedding-space similarity (hardness score).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2E2E2E"/>
                </a:solidFill>
                <a:latin typeface="Calibri"/>
              </a:rPr>
              <a:t>▸  Removes the need for separate offline mining stages.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2E2E2E"/>
                </a:solidFill>
                <a:latin typeface="Calibri"/>
              </a:rPr>
              <a:t>▸  BUT: hardness computed purely from the model's own embeddings has a flaw...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2E2E"/>
                </a:solidFill>
                <a:latin typeface="Calibri"/>
              </a:rPr>
              <a:t>⚠  Two captions saying the same thing differently (e.g. "A dog runs" vs "A canine sprints") get treated as hard negatives — wasting model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Language-Aware Hardness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CS 6384 Computer Vision  |  UTD  |  Spring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2E2E"/>
                </a:solidFill>
                <a:latin typeface="Calibri"/>
              </a:rPr>
              <a:t>Key Idea: inject an external linguistic prior (Sentence-BERT)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691640"/>
            <a:ext cx="9966960" cy="100584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6FB8"/>
                </a:solidFill>
                <a:latin typeface="Calibri"/>
              </a:rPr>
              <a:t>H(i,j)  =  α · sim_embed(i,j)  +  β · sim_ling(i,j)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3172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F6FB8"/>
                </a:solidFill>
                <a:latin typeface="Calibri"/>
              </a:rPr>
              <a:t>w(i,j) = exp( H(i,j)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B12"/>
                </a:solidFill>
                <a:latin typeface="Calibri"/>
              </a:rPr>
              <a:t>sim_embed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Cosine similarity in the model's embedding space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Scaled by logit temperature τ = 50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Updates each training step as model learns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B12"/>
                </a:solidFill>
                <a:latin typeface="Calibri"/>
              </a:rPr>
              <a:t>sim_ling  (NEW)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Cosine similarity from frozen Sentence-BERT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Pre-computed once — zero overhead at train time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Catches semantically equivalent captions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834640"/>
            <a:ext cx="36576" cy="25603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1143000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2E2E"/>
                </a:solidFill>
                <a:latin typeface="Calibri"/>
              </a:rPr>
              <a:t>β = 0  →  standard LLaVE baseline     |     α=5, β=5  →  our best (Balanced) configuration
Ablation: (α,β) ∈ {(9,0), (9,1), (5,5), (9,5), (1,9)}  — equal weighting wins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Method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CS 6384 Computer Vision  |  UTD  |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26080"/>
            <a:ext cx="2286000" cy="7772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971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Image + Text
Pairs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926080"/>
            <a:ext cx="2286000" cy="77724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2971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CLIP Encoder
(trainable)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331720"/>
            <a:ext cx="2286000" cy="7772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37743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sim_embed
(embedding space)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566160"/>
            <a:ext cx="2286000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61187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sim_ling
(Sentence-BERT, frozen)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926080"/>
            <a:ext cx="2286000" cy="77724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971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Hardness Score
H = α·E + β·L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069080"/>
            <a:ext cx="2286000" cy="7772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4114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Weighted
InfoNCE Loss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273552"/>
            <a:ext cx="365760" cy="73152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2743200"/>
            <a:ext cx="365760" cy="73152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0" y="3886200"/>
            <a:ext cx="365760" cy="73152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73552"/>
            <a:ext cx="457200" cy="73152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6920" y="3703320"/>
            <a:ext cx="73152" cy="36576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212080"/>
            <a:ext cx="502920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23036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  <a:latin typeface="Calibri"/>
              </a:rPr>
              <a:t>Pre-compute step (simularity.py):
All captions → Sentence-BERT → .pt embeddings saved to disk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5212080"/>
            <a:ext cx="5029200" cy="685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523036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3600"/>
                </a:solidFill>
                <a:latin typeface="Calibri"/>
              </a:rPr>
              <a:t>At training time: batch indices → O(1) lookup of pre-computed
SBERT embeddings. Zero model parameters added.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Making it work in BFloat16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CS 6384 Computer Vision  |  UTD  |  Spring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2E2E"/>
                </a:solidFill>
                <a:latin typeface="Calibri"/>
              </a:rPr>
              <a:t>Two engineering fixes were needed for stable training: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411480" cy="13716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Fix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B12"/>
                </a:solidFill>
                <a:latin typeface="Calibri"/>
              </a:rPr>
              <a:t>FP32 Upcast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BFloat16 rounds small values to 0 — loss collapses to 0/0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Cast sim_embed and sim_ling to float32 before any exponential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Prevents NaN gradients during training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411480" cy="13716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Fix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B12"/>
                </a:solidFill>
                <a:latin typeface="Calibri"/>
              </a:rPr>
              <a:t>Log-Sum-Exp Trick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Naively computing exp(sim) creates huge intermediate values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Subtract row maximum before exponentiation — numerically identical but stable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Entire loss stays in log-space; no intermediate 1.0/1.0 rounding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114300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2E2E"/>
                </a:solidFill>
                <a:latin typeface="Calibri"/>
              </a:rPr>
              <a:t>Pre-computation:  simularity.py encodes all captions with frozen Sentence-BERT once before training.
Result: (M × 384) tensor saved to disk.  Training: batch indices → O(1) lookup. No GPU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CS 6384 Computer Vision  |  UTD  |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75B1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Flickr30K — 1,000 test images (Karpathy split)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1 caption per image in evaluation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1,000-way retrieval: both I→T and T→I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75B12"/>
                </a:solidFill>
                <a:latin typeface="Calibri"/>
              </a:rPr>
              <a:t>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375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Backbone: LLaVE-2B (LlavaQwenForCausalLM + SigLIP-so400m-patch14-384)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Linguistic prior: frozen Sentence-BERT all-MiniLM-L6-v2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AdamW lr=2e-4, batch 4 × accum 8 = eff. 32, 3 epochs, DeepSpeed ZeRO-2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663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75B12"/>
                </a:solidFill>
                <a:latin typeface="Calibri"/>
              </a:rPr>
              <a:t>Hyperparameters Ablated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74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(α=9, β=0) baseline  |  (α=9, β=1) language-heavy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(α=5, β=5) balanced ★  |  (α=9, β=5) high αβ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(α=1, β=9) embed-heavy  — 5 configs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2E2E"/>
                </a:solidFill>
                <a:latin typeface="Calibri"/>
              </a:rPr>
              <a:t>Evaluation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Recall@1  — correct item in top 1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Recall@5  — correct item in top 5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Recall@10 — correct item in top 10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Median Rank (MedR) — lower is better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Reported for both directions: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  Image → Text  (I→T)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  Text → Image  (T→I)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on Flickr30K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T→I retrieval — 1K images, 5K captions (evaluate_retrieval.py)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CS 6384 Computer Vision  |  UTD  |  Spring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45720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16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Configuration (α, 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16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R@1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16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R@5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216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R@10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216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45920"/>
            <a:ext cx="116128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71907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Calibri"/>
              </a:rPr>
              <a:t>Baseline (9,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7190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6.70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190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17.34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7190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25.16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7190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94560"/>
            <a:ext cx="1161288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2677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Calibri"/>
              </a:rPr>
              <a:t>Language-Heavy (9,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2677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8.64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677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22.00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2677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30.50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2677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743200"/>
            <a:ext cx="11612880" cy="530352"/>
          </a:xfrm>
          <a:prstGeom prst="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81635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B12"/>
                </a:solidFill>
                <a:latin typeface="Calibri"/>
              </a:rPr>
              <a:t>Balanced (5, 5) ★ BEST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8163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5B12"/>
                </a:solidFill>
                <a:latin typeface="Calibri"/>
              </a:rPr>
              <a:t>8.70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8163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5B12"/>
                </a:solidFill>
                <a:latin typeface="Calibri"/>
              </a:rPr>
              <a:t>22.26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8163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5B12"/>
                </a:solidFill>
                <a:latin typeface="Calibri"/>
              </a:rPr>
              <a:t>30.64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8163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5B12"/>
                </a:solidFill>
                <a:latin typeface="Calibri"/>
              </a:rPr>
              <a:t>33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91839"/>
            <a:ext cx="1161288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364991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Calibri"/>
              </a:rPr>
              <a:t>High αβ (9, 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8.04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21.00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28.80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3649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37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840480"/>
            <a:ext cx="116128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91363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  <a:latin typeface="Calibri"/>
              </a:rPr>
              <a:t>Embed-Heavy (1, 9)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3913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7.86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913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20.84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3913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28.78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913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2E2E"/>
                </a:solidFill>
                <a:latin typeface="Calibri"/>
              </a:rPr>
              <a:t>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389120"/>
            <a:ext cx="11612880" cy="41148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416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6FB8"/>
                </a:solidFill>
                <a:latin typeface="Calibri"/>
              </a:rPr>
              <a:t>vs Baseline 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4416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6FB8"/>
                </a:solidFill>
                <a:latin typeface="Calibri"/>
              </a:rPr>
              <a:t>+2.0 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416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6FB8"/>
                </a:solidFill>
                <a:latin typeface="Calibri"/>
              </a:rPr>
              <a:t>+4.92 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416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6FB8"/>
                </a:solidFill>
                <a:latin typeface="Calibri"/>
              </a:rPr>
              <a:t>+5.48 pp (+21.8% rel)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416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6FB8"/>
                </a:solidFill>
                <a:latin typeface="Calibri"/>
              </a:rPr>
              <a:t>47→33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2E2E"/>
                </a:solidFill>
                <a:latin typeface="Calibri"/>
              </a:rPr>
              <a:t>Key Takeaways: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3492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Balanced (α=5, β=5) is best — equal weighting of embedding and linguistic signals.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R@10 improves 25.16% → 30.64% (+21.8% relative); MedR drops from 47 to 33.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2E2E"/>
                </a:solidFill>
                <a:latin typeface="Calibri"/>
              </a:rPr>
              <a:t>▸  High αβ (9,5) underperforms Balanced (5,5) despite same β — gradient conflict.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Effect of (α, β) balance — T→I R@10 on Flickr30K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CS 6384 Computer Vision  |  UTD  |  Spring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2E2E"/>
                </a:solidFill>
                <a:latin typeface="Calibri"/>
              </a:rPr>
              <a:t>T→I R@10 (%) across (α, β) configurations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980432"/>
            <a:ext cx="1371600" cy="963168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56895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2E2E"/>
                </a:solidFill>
                <a:latin typeface="Calibri"/>
              </a:rPr>
              <a:t>25.16%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Calibri"/>
              </a:rPr>
              <a:t>Baseline
(9,0)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352800"/>
            <a:ext cx="1371600" cy="259080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9413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F6FB8"/>
                </a:solidFill>
                <a:latin typeface="Calibri"/>
              </a:rPr>
              <a:t>30.5%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989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Calibri"/>
              </a:rPr>
              <a:t>Lang-Heavy
(9,1)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3310127"/>
            <a:ext cx="1371600" cy="2633472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289864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75B12"/>
                </a:solidFill>
                <a:latin typeface="Calibri"/>
              </a:rPr>
              <a:t>30.64%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5989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Calibri"/>
              </a:rPr>
              <a:t>Balanced
(5,5) 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3870959"/>
            <a:ext cx="1371600" cy="20726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34594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28.8%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989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Calibri"/>
              </a:rPr>
              <a:t>High αβ
(9,5)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3877056"/>
            <a:ext cx="1371600" cy="20665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34655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28.78%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5989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2E2E"/>
                </a:solidFill>
                <a:latin typeface="Calibri"/>
              </a:rPr>
              <a:t>Embed-Heavy
(1,9)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19683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34000"/>
            <a:ext cx="850392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4587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24400"/>
            <a:ext cx="850392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97763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14800"/>
            <a:ext cx="850392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3368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505200"/>
            <a:ext cx="850392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2758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895600"/>
            <a:ext cx="850392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1488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286000"/>
            <a:ext cx="850392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26880" y="1188720"/>
            <a:ext cx="274320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2E2E"/>
                </a:solidFill>
                <a:latin typeface="Calibri"/>
              </a:rPr>
              <a:t>Observations: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16916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E2E2E"/>
                </a:solidFill>
                <a:latin typeface="Calibri"/>
              </a:rPr>
              <a:t>▸  Adding β=1 to baseline already closes most of the gap.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2E2E"/>
                </a:solidFill>
                <a:latin typeface="Calibri"/>
              </a:rPr>
              <a:t>▸  Balanced (5,5) edges out (9,1) — equal weighting is optimal.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2E2E"/>
                </a:solidFill>
                <a:latin typeface="Calibri"/>
              </a:rPr>
              <a:t>▸  High αβ (9,5) drops vs. Balanced: gradient conflict.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2E2E"/>
                </a:solidFill>
                <a:latin typeface="Calibri"/>
              </a:rPr>
              <a:t>▸  Embed-Heavy (1,9): over-weighting text hurts.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2E2E"/>
                </a:solidFill>
                <a:latin typeface="Calibri"/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2E2E"/>
                </a:solidFill>
                <a:latin typeface="Calibri"/>
              </a:rPr>
              <a:t>▸  → Equal α=β=5 provides the most stable gradient signal.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CS 6384 Computer Vision  |  UTD  |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B12"/>
                </a:solidFill>
                <a:latin typeface="Calibri"/>
              </a:rPr>
              <a:t>What we did: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Extended LLaVE's hardness-weighted contrastive loss with a frozen Sentence-BERT linguistic prior.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Combined embedding similarity and text semantic similarity into one unified hardness score.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Added FP32 upcast + log-sum-exp for BFloat16 training stability.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Best model (α=5, β=5): +21.8% relative R@10 improvement; MedR 47→33.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36576" cy="41148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B12"/>
                </a:solidFill>
                <a:latin typeface="Calibri"/>
              </a:rPr>
              <a:t>Future directions: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Scale to full Flickr30K + MS-COCO training sets (GPU cluster).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Explore multimodal linguistic prior (image + caption jointly).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Learnable α and β rather than fixed hyperparameters.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E2E2E"/>
                </a:solidFill>
                <a:latin typeface="Calibri"/>
              </a:rPr>
              <a:t>▸  Apply to cross-lingual retrieval where semantic overlap is harder to detect.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29200"/>
            <a:ext cx="11430000" cy="109728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Core message:  Equal weighting of embedding + linguistic similarity (α=5, β=5) prevents
semantically equivalent captions from being treated as hard negatives —
21.8% relative R@10 improvement and MedR 47→33, with no extra learnable parameters.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